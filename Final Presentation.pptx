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AAD92-8D9D-4D03-8452-A8F74B1F5D2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AAA77-A5DB-4F2A-822A-481C100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9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b="1" dirty="0" err="1"/>
              <a:t>DevelopersHub</a:t>
            </a:r>
            <a:r>
              <a:rPr lang="en-US" altLang="en-US" b="1" dirty="0"/>
              <a:t> Corporation</a:t>
            </a:r>
            <a:br>
              <a:rPr lang="en-US" altLang="en-US" b="1" dirty="0"/>
            </a:br>
            <a:r>
              <a:rPr lang="en-US" altLang="en-US" b="1" dirty="0"/>
              <a:t> February 2026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MAJID HUSSAIN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7556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Research &amp; Campaign Plan — Social Connect (Target: 18–35 in Pakistan)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1782097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Psychographics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2–4 hours daily on social apps. Value authenticity, privacy control, and community belonging. Heavy mobile data users and early adopters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Competitor Insights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UGC &amp; short-form video win. Influencer partnerships build trust. Algorithm fatigue is a major pain point to address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89211" y="4269658"/>
            <a:ext cx="4579983" cy="2340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Pain Points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Users are tired of irrelevant algorithmic feeds and want more meaningful connections. Conversion friction on app installs needs simplification</a:t>
            </a:r>
            <a:r>
              <a:rPr lang="en-US" sz="1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238" y="4269658"/>
            <a:ext cx="1502331" cy="187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3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ea typeface="Alexandria Medium" pitchFamily="34" charset="-122"/>
                <a:cs typeface="Alexandria Medium" pitchFamily="34" charset="-120"/>
              </a:rPr>
              <a:t>Goals, KPIs &amp; Content Strategy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1423220"/>
            <a:ext cx="8678556" cy="1268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Clear SMART goals guide the campaign: +25% reach (3 weeks), 500 app downloads (4 weeks), +1.5K followers (3 weeks), and 3,000 store clicks (4 weeks). KPIs: impressions, 3% baseline engagement, 70%+ video completion, and 500 downloads.</a:t>
            </a:r>
            <a:endParaRPr lang="en-US" sz="1900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6833" y="3384756"/>
            <a:ext cx="3893574" cy="251908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Content Mix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Reels (4–5/</a:t>
            </a:r>
            <a:r>
              <a:rPr lang="en-US" sz="1900" dirty="0" err="1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wk</a:t>
            </a: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), Stories (daily), Feed Graphics (3/</a:t>
            </a:r>
            <a:r>
              <a:rPr lang="en-US" sz="1900" dirty="0" err="1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wk</a:t>
            </a: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), YouTube Ads (1–2 variations), Search &amp; Display for retargeting.</a:t>
            </a:r>
            <a:endParaRPr lang="en-US" sz="19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2676833" y="5373328"/>
            <a:ext cx="9018639" cy="1307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 Concepts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Top-funnel: vibrant montage + Download CTA. Retargeting: social proof + app rating creative. A/B test headlines &amp; creatives to improve conversion.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7261124" y="3384757"/>
            <a:ext cx="4586748" cy="1988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Content </a:t>
            </a:r>
            <a:r>
              <a:rPr lang="en-US" sz="2400" b="1" dirty="0">
                <a:solidFill>
                  <a:schemeClr val="tx1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Themes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1) App tutorials &amp; features 2) Social proof &amp; influencer takeovers 3) Community spotlights &amp; UGC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36174" y="624110"/>
            <a:ext cx="340687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</a:rPr>
              <a:t>Content </a:t>
            </a:r>
            <a:r>
              <a:rPr lang="en-US" sz="3200" b="1" dirty="0">
                <a:solidFill>
                  <a:schemeClr val="tx1"/>
                </a:solidFill>
                <a:ea typeface="Alexandria Medium" pitchFamily="34" charset="-122"/>
                <a:cs typeface="Alexandria Medium" pitchFamily="34" charset="-120"/>
              </a:rPr>
              <a:t>samples</a:t>
            </a:r>
            <a:r>
              <a:rPr lang="en-US" sz="3200" b="1" dirty="0" smtClean="0">
                <a:solidFill>
                  <a:schemeClr val="tx1"/>
                </a:solidFill>
              </a:rPr>
              <a:t> :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" t="5416" r="4264" b="-645"/>
          <a:stretch/>
        </p:blipFill>
        <p:spPr>
          <a:xfrm>
            <a:off x="5582265" y="162232"/>
            <a:ext cx="6430298" cy="653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2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" t="1505" r="3299" b="968"/>
          <a:stretch/>
        </p:blipFill>
        <p:spPr>
          <a:xfrm>
            <a:off x="5442154" y="103238"/>
            <a:ext cx="6518788" cy="66883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36174" y="624110"/>
            <a:ext cx="340687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</a:rPr>
              <a:t>Content </a:t>
            </a:r>
            <a:r>
              <a:rPr lang="en-US" sz="3200" b="1" dirty="0" smtClean="0">
                <a:solidFill>
                  <a:schemeClr val="tx1"/>
                </a:solidFill>
              </a:rPr>
              <a:t>samples :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57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36174" y="624110"/>
            <a:ext cx="340687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/>
                </a:solidFill>
              </a:rPr>
              <a:t>Content </a:t>
            </a:r>
            <a:r>
              <a:rPr lang="en-US" sz="3200" b="1" dirty="0" smtClean="0">
                <a:solidFill>
                  <a:schemeClr val="tx1"/>
                </a:solidFill>
              </a:rPr>
              <a:t>samples :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9"/>
          <a:stretch/>
        </p:blipFill>
        <p:spPr>
          <a:xfrm>
            <a:off x="5021825" y="464574"/>
            <a:ext cx="6858000" cy="59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0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" descr="preencoded.png"/>
          <p:cNvPicPr>
            <a:picLocks noChangeAspect="1"/>
          </p:cNvPicPr>
          <p:nvPr/>
        </p:nvPicPr>
        <p:blipFill rotWithShape="1">
          <a:blip r:embed="rId2"/>
          <a:srcRect l="2528" t="18473" r="647" b="-190"/>
          <a:stretch/>
        </p:blipFill>
        <p:spPr>
          <a:xfrm>
            <a:off x="2182762" y="720134"/>
            <a:ext cx="9916136" cy="433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9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chemeClr val="tx1"/>
                </a:solidFill>
                <a:ea typeface="Alexandria Medium" pitchFamily="34" charset="-122"/>
                <a:cs typeface="Alexandria Medium" pitchFamily="34" charset="-120"/>
              </a:rPr>
              <a:t>Performance &amp; Optimization: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4206" y="1437968"/>
            <a:ext cx="9158748" cy="10545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Week 3 insights: organic reach ~1,500 with 185 engagements (4.2% engagement rate </a:t>
            </a:r>
            <a:r>
              <a:rPr lang="en-US" sz="2100" dirty="0" smtClean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,  </a:t>
            </a:r>
            <a:r>
              <a:rPr lang="en-US" sz="2100" dirty="0">
                <a:solidFill>
                  <a:schemeClr val="tx1"/>
                </a:solidFill>
                <a:latin typeface="+mj-lt"/>
                <a:ea typeface="Manrope" pitchFamily="34" charset="-122"/>
                <a:cs typeface="Manrope" pitchFamily="34" charset="-120"/>
              </a:rPr>
              <a:t>above the 3% benchmark). Test results show testimonial-style videos reached 2.5× the audience of static posts. Paid ads achieved 3,200 impressions but downloads lagged, signaling funnel friction.</a:t>
            </a:r>
            <a:endParaRPr lang="en-US" sz="2100" dirty="0">
              <a:solidFill>
                <a:schemeClr val="tx1"/>
              </a:solidFill>
              <a:latin typeface="+mj-lt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4"/>
          <p:cNvSpPr/>
          <p:nvPr/>
        </p:nvSpPr>
        <p:spPr>
          <a:xfrm>
            <a:off x="2455605" y="2610465"/>
            <a:ext cx="2625863" cy="8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15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j-lt"/>
                <a:ea typeface="Alexandria Medium" pitchFamily="34" charset="-122"/>
                <a:cs typeface="Alexandria Medium" pitchFamily="34" charset="-120"/>
              </a:rPr>
              <a:t>Optimize </a:t>
            </a:r>
            <a:r>
              <a:rPr lang="en-US" sz="2400" b="1" dirty="0" smtClean="0">
                <a:latin typeface="+mj-lt"/>
                <a:ea typeface="Alexandria Medium" pitchFamily="34" charset="-122"/>
                <a:cs typeface="Alexandria Medium" pitchFamily="34" charset="-120"/>
              </a:rPr>
              <a:t>Creative:</a:t>
            </a:r>
            <a:endParaRPr lang="en-US" sz="2400" b="1" dirty="0">
              <a:latin typeface="+mj-lt"/>
            </a:endParaRPr>
          </a:p>
        </p:txBody>
      </p:sp>
      <p:sp>
        <p:nvSpPr>
          <p:cNvPr id="6" name="Text 5"/>
          <p:cNvSpPr/>
          <p:nvPr/>
        </p:nvSpPr>
        <p:spPr>
          <a:xfrm>
            <a:off x="2507226" y="3197942"/>
            <a:ext cx="3946805" cy="120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latin typeface="+mj-lt"/>
                <a:ea typeface="Manrope" pitchFamily="34" charset="-122"/>
                <a:cs typeface="Manrope" pitchFamily="34" charset="-120"/>
              </a:rPr>
              <a:t>Prioritize short-form video, swap static posts for quick tutorials and UGC. Use the color #87ADFD for creative accents and thumbnails</a:t>
            </a:r>
            <a:r>
              <a:rPr lang="en-US" sz="1900" dirty="0">
                <a:solidFill>
                  <a:srgbClr val="5B6E8C"/>
                </a:solidFill>
                <a:latin typeface="+mj-lt"/>
                <a:ea typeface="Manrope" pitchFamily="34" charset="-122"/>
                <a:cs typeface="Manrope" pitchFamily="34" charset="-120"/>
              </a:rPr>
              <a:t>.</a:t>
            </a:r>
          </a:p>
        </p:txBody>
      </p:sp>
      <p:sp>
        <p:nvSpPr>
          <p:cNvPr id="8" name="Text 7"/>
          <p:cNvSpPr/>
          <p:nvPr/>
        </p:nvSpPr>
        <p:spPr>
          <a:xfrm>
            <a:off x="7108723" y="2610465"/>
            <a:ext cx="4173792" cy="339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15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j-lt"/>
                <a:ea typeface="Alexandria Medium" pitchFamily="34" charset="-122"/>
                <a:cs typeface="Alexandria Medium" pitchFamily="34" charset="-120"/>
              </a:rPr>
              <a:t>Increase </a:t>
            </a:r>
            <a:r>
              <a:rPr lang="en-US" sz="2400" b="1" dirty="0">
                <a:latin typeface="+mj-lt"/>
                <a:ea typeface="Alexandria Medium" pitchFamily="34" charset="-122"/>
                <a:cs typeface="Alexandria Medium" pitchFamily="34" charset="-120"/>
              </a:rPr>
              <a:t>Conversions</a:t>
            </a:r>
            <a:r>
              <a:rPr lang="en-US" sz="2550" b="1" dirty="0" smtClean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:</a:t>
            </a:r>
            <a:endParaRPr lang="en-US" sz="2550" b="1" dirty="0"/>
          </a:p>
        </p:txBody>
      </p:sp>
      <p:sp>
        <p:nvSpPr>
          <p:cNvPr id="9" name="Text 8"/>
          <p:cNvSpPr/>
          <p:nvPr/>
        </p:nvSpPr>
        <p:spPr>
          <a:xfrm>
            <a:off x="7020232" y="3197942"/>
            <a:ext cx="4822722" cy="5182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latin typeface="+mj-lt"/>
                <a:ea typeface="Manrope" pitchFamily="34" charset="-122"/>
                <a:cs typeface="Manrope" pitchFamily="34" charset="-120"/>
              </a:rPr>
              <a:t>A/B test headlines (e.g., “Meet Social Connect” vs “Tired of Random Feeds?”), strengthen CTAs, and simplify signup flows to turn clicks into downloads.</a:t>
            </a:r>
          </a:p>
        </p:txBody>
      </p:sp>
      <p:sp>
        <p:nvSpPr>
          <p:cNvPr id="10" name="Text 10"/>
          <p:cNvSpPr/>
          <p:nvPr/>
        </p:nvSpPr>
        <p:spPr>
          <a:xfrm>
            <a:off x="2389239" y="5216253"/>
            <a:ext cx="3258429" cy="4276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315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j-lt"/>
                <a:ea typeface="Alexandria Medium" pitchFamily="34" charset="-122"/>
                <a:cs typeface="Alexandria Medium" pitchFamily="34" charset="-120"/>
              </a:rPr>
              <a:t>Community &amp; </a:t>
            </a:r>
            <a:r>
              <a:rPr lang="en-US" sz="2400" b="1" dirty="0">
                <a:latin typeface="+mj-lt"/>
                <a:ea typeface="Alexandria Medium" pitchFamily="34" charset="-122"/>
                <a:cs typeface="Alexandria Medium" pitchFamily="34" charset="-120"/>
              </a:rPr>
              <a:t>Influencers:</a:t>
            </a:r>
            <a:endParaRPr lang="en-US" sz="2400" b="1" dirty="0">
              <a:latin typeface="+mj-lt"/>
              <a:ea typeface="Alexandria Medium" pitchFamily="34" charset="-122"/>
              <a:cs typeface="Alexandria Medium" pitchFamily="34" charset="-120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2389239" y="5626510"/>
            <a:ext cx="6622026" cy="47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latin typeface="+mj-lt"/>
                <a:ea typeface="Manrope" pitchFamily="34" charset="-122"/>
                <a:cs typeface="Manrope" pitchFamily="34" charset="-120"/>
              </a:rPr>
              <a:t>Partner with micro-influencers for authentic reach, and incentivize UGC with reposts and community spotlights to build trust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30479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Lessons Learned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103" y="1850923"/>
            <a:ext cx="9217741" cy="408530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Key Lessons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Short-form videos perform best</a:t>
            </a:r>
            <a:r>
              <a:rPr lang="en-US" sz="1900" dirty="0"/>
              <a:t> – Reels generated </a:t>
            </a:r>
            <a:r>
              <a:rPr lang="en-US" sz="1900" b="1" dirty="0"/>
              <a:t>2.5× higher reach</a:t>
            </a:r>
            <a:r>
              <a:rPr lang="en-US" sz="1900" dirty="0"/>
              <a:t> than static posts.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Relatable content increases engagement</a:t>
            </a:r>
            <a:r>
              <a:rPr lang="en-US" sz="1900" dirty="0"/>
              <a:t> – Posts addressing user pain points attracted more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Active community management builds trust</a:t>
            </a:r>
            <a:r>
              <a:rPr lang="en-US" sz="1900" dirty="0"/>
              <a:t> – Achieved </a:t>
            </a:r>
            <a:r>
              <a:rPr lang="en-US" sz="1900" b="1" dirty="0"/>
              <a:t>100% response rate to DMs</a:t>
            </a:r>
            <a:r>
              <a:rPr lang="en-US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Ads generated interest but conversions were lower</a:t>
            </a:r>
            <a:r>
              <a:rPr lang="en-US" sz="1900" dirty="0"/>
              <a:t>, indicating the need to improve the download journey.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Consistent posting improved visibility</a:t>
            </a:r>
            <a:r>
              <a:rPr lang="en-US" sz="1900" dirty="0"/>
              <a:t> and audience engagement.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1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Lessons Learned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103" y="1850923"/>
            <a:ext cx="9217741" cy="4085303"/>
          </a:xfrm>
        </p:spPr>
        <p:txBody>
          <a:bodyPr>
            <a:normAutofit/>
          </a:bodyPr>
          <a:lstStyle/>
          <a:p>
            <a:r>
              <a:rPr lang="en-US" sz="2400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Focus more on </a:t>
            </a:r>
            <a:r>
              <a:rPr lang="en-US" sz="1900" b="1" dirty="0"/>
              <a:t>short-form video and user-generated content (UGC)</a:t>
            </a:r>
            <a:r>
              <a:rPr lang="en-US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Collaborate with </a:t>
            </a:r>
            <a:r>
              <a:rPr lang="en-US" sz="1900" b="1" dirty="0"/>
              <a:t>micro-influencers</a:t>
            </a:r>
            <a:r>
              <a:rPr lang="en-US" sz="1900" dirty="0"/>
              <a:t> to increase reach and credibility.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Optimize the conversion funnel</a:t>
            </a:r>
            <a:r>
              <a:rPr lang="en-US" sz="1900" dirty="0"/>
              <a:t> (landing page and stronger CTAs).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Use </a:t>
            </a:r>
            <a:r>
              <a:rPr lang="en-US" sz="1900" b="1" dirty="0"/>
              <a:t>A/B testing</a:t>
            </a:r>
            <a:r>
              <a:rPr lang="en-US" sz="1900" dirty="0"/>
              <a:t> for ad creatives and headlines.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Continue </a:t>
            </a:r>
            <a:r>
              <a:rPr lang="en-US" sz="1900" b="1" dirty="0"/>
              <a:t>data-driven optimization</a:t>
            </a:r>
            <a:r>
              <a:rPr lang="en-US" sz="1900" dirty="0"/>
              <a:t> based on campaign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4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</TotalTime>
  <Words>513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Alexandria Medium</vt:lpstr>
      <vt:lpstr>Arial</vt:lpstr>
      <vt:lpstr>Calibri</vt:lpstr>
      <vt:lpstr>Century Gothic</vt:lpstr>
      <vt:lpstr>Manrope</vt:lpstr>
      <vt:lpstr>Wingdings</vt:lpstr>
      <vt:lpstr>Wingdings 3</vt:lpstr>
      <vt:lpstr>Wisp</vt:lpstr>
      <vt:lpstr>DevelopersHub Corporation  February 2026 </vt:lpstr>
      <vt:lpstr>Research &amp; Campaign Plan — Social Connect (Target: 18–35 in Pakistan) </vt:lpstr>
      <vt:lpstr>Goals, KPIs &amp; Content Strategy </vt:lpstr>
      <vt:lpstr>PowerPoint Presentation</vt:lpstr>
      <vt:lpstr>PowerPoint Presentation</vt:lpstr>
      <vt:lpstr>PowerPoint Presentation</vt:lpstr>
      <vt:lpstr>PowerPoint Presentation</vt:lpstr>
      <vt:lpstr>Performance &amp; Optimization: </vt:lpstr>
      <vt:lpstr>Lessons Learned &amp; Recommendations</vt:lpstr>
      <vt:lpstr>Lessons Learned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DevelopersHub Corporation  February 2026</dc:title>
  <dc:creator>Majid Hussain</dc:creator>
  <cp:lastModifiedBy>Majid Hussain</cp:lastModifiedBy>
  <cp:revision>6</cp:revision>
  <dcterms:created xsi:type="dcterms:W3CDTF">2026-03-05T14:34:12Z</dcterms:created>
  <dcterms:modified xsi:type="dcterms:W3CDTF">2026-03-05T15:27:53Z</dcterms:modified>
</cp:coreProperties>
</file>